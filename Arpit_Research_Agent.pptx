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8" r:id="rId9"/>
    <p:sldId id="299" r:id="rId10"/>
    <p:sldId id="300"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1" d="100"/>
          <a:sy n="91" d="100"/>
        </p:scale>
        <p:origin x="-10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65256550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2307470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err="1" smtClean="0"/>
                        <a:t>Arpit</a:t>
                      </a:r>
                      <a:r>
                        <a:rPr lang="en-US" dirty="0" smtClean="0"/>
                        <a:t> Kumar Sharma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D61227767@gmail.com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9455970947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Education </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Research Agent</a:t>
            </a:r>
            <a:endParaRPr lang="en-IN" sz="2400" b="1" dirty="0">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8781" y="3629626"/>
            <a:ext cx="900571" cy="1140189"/>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902494"/>
            <a:ext cx="10607040" cy="6124754"/>
          </a:xfrm>
          <a:prstGeom prst="rect">
            <a:avLst/>
          </a:prstGeom>
          <a:noFill/>
        </p:spPr>
        <p:txBody>
          <a:bodyPr wrap="square" rtlCol="0">
            <a:spAutoFit/>
          </a:bodyPr>
          <a:lstStyle/>
          <a:p>
            <a:pPr fontAlgn="base"/>
            <a:r>
              <a:rPr lang="en-US" b="1" dirty="0"/>
              <a:t>Problem Statement : </a:t>
            </a:r>
            <a:r>
              <a:rPr lang="en-US" b="1" dirty="0"/>
              <a:t> Research Agent </a:t>
            </a:r>
            <a:endParaRPr lang="en-US" b="1" dirty="0" smtClean="0"/>
          </a:p>
          <a:p>
            <a:pPr fontAlgn="base"/>
            <a:endParaRPr lang="en-US" b="1" dirty="0"/>
          </a:p>
          <a:p>
            <a:pPr fontAlgn="base"/>
            <a:r>
              <a:rPr lang="en-US" b="1" dirty="0"/>
              <a:t>The Challenge</a:t>
            </a:r>
            <a:r>
              <a:rPr lang="en-US" dirty="0"/>
              <a:t> </a:t>
            </a:r>
          </a:p>
          <a:p>
            <a:pPr fontAlgn="base"/>
            <a:r>
              <a:rPr lang="en-US" dirty="0"/>
              <a:t> A Research Agent is an AI system designed to assist with academic and scientific research tasks. It can autonomously search for literature, summarize papers, and organize references. Using natural language processing, it understands research questions and retrieves relevant information</a:t>
            </a:r>
            <a:r>
              <a:rPr lang="en-US" dirty="0" smtClean="0"/>
              <a:t>.</a:t>
            </a:r>
          </a:p>
          <a:p>
            <a:pPr fontAlgn="base"/>
            <a:endParaRPr lang="en-US" dirty="0" smtClean="0"/>
          </a:p>
          <a:p>
            <a:pPr fontAlgn="base"/>
            <a:r>
              <a:rPr lang="en-US" dirty="0" smtClean="0"/>
              <a:t> </a:t>
            </a:r>
            <a:r>
              <a:rPr lang="en-US" dirty="0"/>
              <a:t>The agent can generate reports, suggest hypotheses, and even draft sections of research papers. It saves time by automating repetitive tasks like citation management and data extraction. Research Agents enhance efficiency, accuracy, and innovation in both academic and industrial R&amp;D. </a:t>
            </a:r>
            <a:endParaRPr lang="en-US" dirty="0" smtClean="0"/>
          </a:p>
          <a:p>
            <a:pPr fontAlgn="base"/>
            <a:endParaRPr lang="en-US" dirty="0"/>
          </a:p>
          <a:p>
            <a:pPr fontAlgn="base"/>
            <a:r>
              <a:rPr lang="en-US" b="1" dirty="0"/>
              <a:t>The </a:t>
            </a:r>
            <a:r>
              <a:rPr lang="en-US" b="1" dirty="0" smtClean="0"/>
              <a:t>Objective</a:t>
            </a:r>
            <a:r>
              <a:rPr lang="en-US" dirty="0"/>
              <a:t> </a:t>
            </a:r>
          </a:p>
          <a:p>
            <a:pPr marL="285750" indent="-285750">
              <a:buFont typeface="Arial" pitchFamily="34" charset="0"/>
              <a:buChar char="•"/>
            </a:pPr>
            <a:r>
              <a:rPr lang="en-US" b="1" dirty="0" smtClean="0"/>
              <a:t>Autonomous </a:t>
            </a:r>
            <a:r>
              <a:rPr lang="en-US" b="1" dirty="0"/>
              <a:t>Information Retrieval:</a:t>
            </a:r>
            <a:r>
              <a:rPr lang="en-US" dirty="0"/>
              <a:t> Efficiently search across diverse digital repositories, databases, and web sources to gather relevant, high-quality data based on user-defined parameters</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a:t>Source Evaluation &amp; Verification:</a:t>
            </a:r>
            <a:r>
              <a:rPr lang="en-US" dirty="0"/>
              <a:t> Critically assess the credibility, authority, and </a:t>
            </a:r>
            <a:r>
              <a:rPr lang="en-US" dirty="0" err="1"/>
              <a:t>recency</a:t>
            </a:r>
            <a:r>
              <a:rPr lang="en-US" dirty="0"/>
              <a:t> of retrieved sources to filter out misinformation and ensure data integrity</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a:t>Contextual Synthesis &amp; Summarization:</a:t>
            </a:r>
            <a:r>
              <a:rPr lang="en-US" dirty="0"/>
              <a:t> Distill large volumes of raw information into structured, concise, and coherent summaries tailored to the user's specific research goals</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a:t>Iterative Refinement:</a:t>
            </a:r>
            <a:r>
              <a:rPr lang="en-US" dirty="0"/>
              <a:t> Adapt search strategies dynamically by analyzing initial findings, identifying knowledge gaps, and executing follow-up queries for deeper exploration</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b="1" dirty="0"/>
              <a:t>Structured Output Generation:</a:t>
            </a:r>
            <a:r>
              <a:rPr lang="en-US" dirty="0"/>
              <a:t> Deliver finalized research outputs in a clear, well-organized format—complete with proper citations and actionable insights—ready for immediate application.</a:t>
            </a:r>
          </a:p>
          <a:p>
            <a:pPr fontAlgn="base"/>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440829"/>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5693866"/>
          </a:xfrm>
          <a:prstGeom prst="rect">
            <a:avLst/>
          </a:prstGeom>
          <a:noFill/>
        </p:spPr>
        <p:txBody>
          <a:bodyPr wrap="square" rtlCol="0">
            <a:spAutoFit/>
          </a:bodyPr>
          <a:lstStyle/>
          <a:p>
            <a:pPr fontAlgn="base"/>
            <a:endParaRPr lang="en-US" b="1" dirty="0"/>
          </a:p>
          <a:p>
            <a:r>
              <a:rPr lang="en-US" b="1" dirty="0"/>
              <a:t>Proposed Solution: AI-Powered </a:t>
            </a:r>
            <a:r>
              <a:rPr lang="en-US" b="1" dirty="0" smtClean="0"/>
              <a:t>Research</a:t>
            </a:r>
            <a:r>
              <a:rPr lang="en-US" b="1" dirty="0" smtClean="0"/>
              <a:t> Agent</a:t>
            </a:r>
          </a:p>
          <a:p>
            <a:endParaRPr lang="en-US" b="1" dirty="0"/>
          </a:p>
          <a:p>
            <a:r>
              <a:rPr lang="en-US" dirty="0"/>
              <a:t>The proposed solution is a </a:t>
            </a:r>
            <a:r>
              <a:rPr lang="en-US" b="1" dirty="0"/>
              <a:t>multi-agent AI-powered </a:t>
            </a:r>
            <a:r>
              <a:rPr lang="en-US" b="1" dirty="0" smtClean="0"/>
              <a:t>Research</a:t>
            </a:r>
            <a:r>
              <a:rPr lang="en-US" b="1" dirty="0" smtClean="0"/>
              <a:t> </a:t>
            </a:r>
            <a:r>
              <a:rPr lang="en-US" b="1" dirty="0"/>
              <a:t>Agent</a:t>
            </a:r>
            <a:r>
              <a:rPr lang="en-US" dirty="0"/>
              <a:t> built using </a:t>
            </a:r>
            <a:r>
              <a:rPr lang="en-US" b="1" dirty="0"/>
              <a:t>IBM Bob, IBM watsonx.ai, and Granite Models</a:t>
            </a:r>
            <a:r>
              <a:rPr lang="en-US" dirty="0"/>
              <a:t> to provide personalized, real-time </a:t>
            </a:r>
            <a:r>
              <a:rPr lang="en-US" dirty="0" smtClean="0"/>
              <a:t>research</a:t>
            </a:r>
            <a:r>
              <a:rPr lang="en-US" dirty="0" smtClean="0"/>
              <a:t> </a:t>
            </a:r>
            <a:r>
              <a:rPr lang="en-US" dirty="0"/>
              <a:t>guidance. The system addresses challenges in </a:t>
            </a:r>
            <a:r>
              <a:rPr lang="en-US" dirty="0"/>
              <a:t>literature, summarize papers, and organize references </a:t>
            </a:r>
            <a:r>
              <a:rPr lang="en-US" dirty="0"/>
              <a:t>through an intelligent, modular architecture</a:t>
            </a:r>
            <a:r>
              <a:rPr lang="en-US" dirty="0" smtClean="0"/>
              <a:t>.</a:t>
            </a:r>
          </a:p>
          <a:p>
            <a:endParaRPr lang="en-US" dirty="0"/>
          </a:p>
          <a:p>
            <a:r>
              <a:rPr lang="en-US" dirty="0"/>
              <a:t>At its core, the solution uses a </a:t>
            </a:r>
            <a:r>
              <a:rPr lang="en-US" b="1" dirty="0"/>
              <a:t>Retrieval-Augmented Generation (RAG)</a:t>
            </a:r>
            <a:r>
              <a:rPr lang="en-US" dirty="0"/>
              <a:t> pipeline to fetch accurate </a:t>
            </a:r>
            <a:r>
              <a:rPr lang="en-US" dirty="0" smtClean="0"/>
              <a:t>research</a:t>
            </a:r>
            <a:r>
              <a:rPr lang="en-US" dirty="0" smtClean="0"/>
              <a:t> </a:t>
            </a:r>
            <a:r>
              <a:rPr lang="en-US" dirty="0"/>
              <a:t>data from trusted </a:t>
            </a:r>
            <a:r>
              <a:rPr lang="en-US" dirty="0" err="1" smtClean="0"/>
              <a:t>sources.It</a:t>
            </a:r>
            <a:r>
              <a:rPr lang="en-US" dirty="0" smtClean="0"/>
              <a:t> uses </a:t>
            </a:r>
            <a:r>
              <a:rPr lang="en-US" b="1" dirty="0" smtClean="0"/>
              <a:t>Granite Model </a:t>
            </a:r>
            <a:r>
              <a:rPr lang="en-US" dirty="0" smtClean="0"/>
              <a:t>for </a:t>
            </a:r>
            <a:r>
              <a:rPr lang="en-US" dirty="0" err="1" smtClean="0"/>
              <a:t>procesing</a:t>
            </a:r>
            <a:r>
              <a:rPr lang="en-US" dirty="0"/>
              <a:t> </a:t>
            </a:r>
            <a:r>
              <a:rPr lang="en-US" dirty="0" smtClean="0"/>
              <a:t>information.</a:t>
            </a:r>
          </a:p>
          <a:p>
            <a:endParaRPr lang="en-US" dirty="0"/>
          </a:p>
          <a:p>
            <a:pPr marL="285750" indent="-285750">
              <a:buFont typeface="Arial" pitchFamily="34" charset="0"/>
              <a:buChar char="•"/>
            </a:pPr>
            <a:r>
              <a:rPr lang="en-US" b="1" dirty="0"/>
              <a:t>Modular Multi-Agent Architecture:</a:t>
            </a:r>
            <a:r>
              <a:rPr lang="en-US" dirty="0"/>
              <a:t> Implement a specialized task-delegation framework where distinct sub-agents handle query planning, parallel web searching, content scraping, and critical evaluation independently</a:t>
            </a:r>
            <a:r>
              <a:rPr lang="en-US" dirty="0" smtClean="0"/>
              <a:t>.</a:t>
            </a:r>
          </a:p>
          <a:p>
            <a:endParaRPr lang="en-US" dirty="0"/>
          </a:p>
          <a:p>
            <a:pPr marL="285750" indent="-285750">
              <a:buFont typeface="Arial" pitchFamily="34" charset="0"/>
              <a:buChar char="•"/>
            </a:pPr>
            <a:r>
              <a:rPr lang="en-US" b="1" dirty="0"/>
              <a:t>Hybrid Retrieval Engine:</a:t>
            </a:r>
            <a:r>
              <a:rPr lang="en-US" dirty="0"/>
              <a:t> Combine dense vector </a:t>
            </a:r>
            <a:r>
              <a:rPr lang="en-US" dirty="0" err="1"/>
              <a:t>embeddings</a:t>
            </a:r>
            <a:r>
              <a:rPr lang="en-US" dirty="0"/>
              <a:t> for semantic similarity with sparse keyword indices (BM25) to ensure comprehensive data coverage across both structured and unstructured repositories</a:t>
            </a:r>
            <a:r>
              <a:rPr lang="en-US" dirty="0" smtClean="0"/>
              <a:t>.</a:t>
            </a:r>
          </a:p>
          <a:p>
            <a:endParaRPr lang="en-US" dirty="0"/>
          </a:p>
          <a:p>
            <a:pPr marL="285750" indent="-285750">
              <a:buFont typeface="Arial" pitchFamily="34" charset="0"/>
              <a:buChar char="•"/>
            </a:pPr>
            <a:r>
              <a:rPr lang="en-US" b="1" dirty="0"/>
              <a:t>Automated Fact-Checking Layer:</a:t>
            </a:r>
            <a:r>
              <a:rPr lang="en-US" dirty="0"/>
              <a:t> Incorporate an evaluation pipeline that cross-references extracted claims against trusted knowledge bases and multi-source consensus to filter out hallucinations and biases</a:t>
            </a:r>
            <a:r>
              <a:rPr lang="en-US" dirty="0" smtClean="0"/>
              <a:t>.</a:t>
            </a:r>
          </a:p>
          <a:p>
            <a:endParaRPr lang="en-US" dirty="0"/>
          </a:p>
          <a:p>
            <a:pPr marL="285750" indent="-285750">
              <a:buFont typeface="Arial" pitchFamily="34" charset="0"/>
              <a:buChar char="•"/>
            </a:pPr>
            <a:r>
              <a:rPr lang="en-US" b="1" dirty="0"/>
              <a:t>Persistent Context &amp; Memory:</a:t>
            </a:r>
            <a:r>
              <a:rPr lang="en-US" dirty="0"/>
              <a:t> Utilize short-term working memory alongside a vector-based long-term store to maintain historical context, track ongoing research threads, and avoid redundant queries</a:t>
            </a:r>
            <a:r>
              <a:rPr lang="en-US" dirty="0" smtClean="0"/>
              <a:t>.</a:t>
            </a:r>
          </a:p>
          <a:p>
            <a:endParaRPr lang="en-US" dirty="0"/>
          </a:p>
          <a:p>
            <a:pPr marL="285750" indent="-285750">
              <a:buFont typeface="Arial" pitchFamily="34" charset="0"/>
              <a:buChar char="•"/>
            </a:pPr>
            <a:r>
              <a:rPr lang="en-US" b="1" dirty="0"/>
              <a:t>Transparent Source Attribution:</a:t>
            </a:r>
            <a:r>
              <a:rPr lang="en-US" dirty="0"/>
              <a:t> Embed end-to-end citation tracking to map every synthesized insight directly back to its original source URL or document for seamless auditability.</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a:t>
            </a:r>
            <a:r>
              <a:rPr lang="en-US" sz="1800" dirty="0" smtClean="0"/>
              <a:t>visually.</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a:t>
            </a:r>
            <a:r>
              <a:rPr lang="en-US" sz="1800" dirty="0" smtClean="0"/>
              <a:t>personalization.</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a:t>
            </a:r>
            <a:r>
              <a:rPr lang="en-US" sz="1800" dirty="0" smtClean="0"/>
              <a:t>governance.</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a:t>
            </a:r>
            <a:r>
              <a:rPr lang="en-IN" sz="1800" dirty="0" smtClean="0"/>
              <a:t>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362" y="1095375"/>
            <a:ext cx="9439275" cy="466725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6692" y="1008993"/>
            <a:ext cx="8448549" cy="502219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6137" y="771747"/>
            <a:ext cx="10058400" cy="5233511"/>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4678204"/>
          </a:xfrm>
          <a:prstGeom prst="rect">
            <a:avLst/>
          </a:prstGeom>
          <a:noFill/>
        </p:spPr>
        <p:txBody>
          <a:bodyPr wrap="square" rtlCol="0">
            <a:spAutoFit/>
          </a:bodyPr>
          <a:lstStyle/>
          <a:p>
            <a:r>
              <a:rPr lang="en-US" sz="1800" b="1" dirty="0"/>
              <a:t>Role of </a:t>
            </a:r>
            <a:r>
              <a:rPr lang="en-US" sz="1800" b="1" dirty="0" err="1"/>
              <a:t>Agentic</a:t>
            </a:r>
            <a:r>
              <a:rPr lang="en-US" sz="1800" b="1" dirty="0"/>
              <a:t> AI in Nutrition </a:t>
            </a:r>
            <a:r>
              <a:rPr lang="en-US" sz="1800" b="1" dirty="0" smtClean="0"/>
              <a:t>Agent</a:t>
            </a:r>
          </a:p>
          <a:p>
            <a:endParaRPr lang="en-US" b="1" dirty="0"/>
          </a:p>
          <a:p>
            <a:pPr marL="285750" indent="-285750">
              <a:buFont typeface="Arial" pitchFamily="34" charset="0"/>
              <a:buChar char="•"/>
            </a:pPr>
            <a:r>
              <a:rPr lang="en-US" b="1" dirty="0" err="1"/>
              <a:t>Agentic</a:t>
            </a:r>
            <a:r>
              <a:rPr lang="en-US" b="1" dirty="0"/>
              <a:t> AI</a:t>
            </a:r>
            <a:r>
              <a:rPr lang="en-US" dirty="0"/>
              <a:t> enables the Nutrition Agent to function as an intelligent, autonomous system rather than a simple </a:t>
            </a:r>
            <a:r>
              <a:rPr lang="en-US" dirty="0" err="1"/>
              <a:t>chatbot</a:t>
            </a:r>
            <a:r>
              <a:rPr lang="en-US" dirty="0"/>
              <a:t>. Using </a:t>
            </a:r>
            <a:r>
              <a:rPr lang="en-US" b="1" dirty="0"/>
              <a:t>IBM watsonx.ai</a:t>
            </a:r>
            <a:r>
              <a:rPr lang="en-US" dirty="0"/>
              <a:t> and </a:t>
            </a:r>
            <a:r>
              <a:rPr lang="en-US" b="1" dirty="0"/>
              <a:t>IBM Granite models</a:t>
            </a:r>
            <a:r>
              <a:rPr lang="en-US" dirty="0"/>
              <a:t>, it coordinates multiple specialized agents to deliver personalized nutrition guidance</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dirty="0"/>
              <a:t>Each agent performs a specific role—such as retrieving nutritional data, generating diet plans, providing health advice, and analyzing food logs—while working collaboratively. </a:t>
            </a:r>
            <a:endParaRPr lang="en-US" dirty="0" smtClean="0"/>
          </a:p>
          <a:p>
            <a:pPr marL="285750" indent="-285750">
              <a:buFont typeface="Arial" pitchFamily="34" charset="0"/>
              <a:buChar char="•"/>
            </a:pPr>
            <a:endParaRPr lang="en-US" dirty="0" smtClean="0"/>
          </a:p>
          <a:p>
            <a:pPr marL="285750" indent="-285750">
              <a:buFont typeface="Arial" pitchFamily="34" charset="0"/>
              <a:buChar char="•"/>
            </a:pPr>
            <a:r>
              <a:rPr lang="en-US" dirty="0" smtClean="0"/>
              <a:t>This </a:t>
            </a:r>
            <a:r>
              <a:rPr lang="en-US" b="1" dirty="0"/>
              <a:t>multi-agent approach</a:t>
            </a:r>
            <a:r>
              <a:rPr lang="en-US" dirty="0"/>
              <a:t> ensures efficient task execution and accurate results.</a:t>
            </a:r>
          </a:p>
          <a:p>
            <a:pPr marL="285750" indent="-285750">
              <a:buFont typeface="Arial" pitchFamily="34" charset="0"/>
              <a:buChar char="•"/>
            </a:pPr>
            <a:r>
              <a:rPr lang="en-US" dirty="0" err="1"/>
              <a:t>Agentic</a:t>
            </a:r>
            <a:r>
              <a:rPr lang="en-US" dirty="0"/>
              <a:t> AI also brings </a:t>
            </a:r>
            <a:r>
              <a:rPr lang="en-US" b="1" dirty="0"/>
              <a:t>context awareness</a:t>
            </a:r>
            <a:r>
              <a:rPr lang="en-US" dirty="0"/>
              <a:t>, understanding user details like age, health conditions, and fitness goals to generate tailored recommendations</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dirty="0" smtClean="0"/>
              <a:t> </a:t>
            </a:r>
            <a:r>
              <a:rPr lang="en-US" dirty="0"/>
              <a:t>It supports </a:t>
            </a:r>
            <a:r>
              <a:rPr lang="en-US" b="1" dirty="0"/>
              <a:t>real-time adaptation</a:t>
            </a:r>
            <a:r>
              <a:rPr lang="en-US" dirty="0"/>
              <a:t>, continuously updating suggestions based on user inputs like daily meals</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dirty="0"/>
              <a:t>Additionally, agents communicate with each other, enabling better decision-making and improved outcomes</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dirty="0"/>
              <a:t>Overall, </a:t>
            </a:r>
            <a:r>
              <a:rPr lang="en-US" dirty="0" err="1"/>
              <a:t>Agentic</a:t>
            </a:r>
            <a:r>
              <a:rPr lang="en-US" dirty="0"/>
              <a:t> AI makes the system proactive, personalized, and goal-driven, acting like a </a:t>
            </a:r>
            <a:r>
              <a:rPr lang="en-US" b="1" dirty="0"/>
              <a:t>smart digital nutritionist</a:t>
            </a:r>
            <a:r>
              <a:rPr lang="en-US" dirty="0"/>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xmlns=""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3342</a:t>
            </a:r>
            <a:r>
              <a:rPr lang="en-US" dirty="0" smtClean="0"/>
              <a:t> token were </a:t>
            </a:r>
            <a:r>
              <a:rPr lang="en-US" dirty="0"/>
              <a:t>used</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8083" y="1590273"/>
            <a:ext cx="9028387" cy="4840219"/>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xmlns=""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8897" y="1033602"/>
            <a:ext cx="8687277" cy="4653228"/>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xmlns=""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718" y="1190977"/>
            <a:ext cx="9039954" cy="481043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xmlns=""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9102" y="934614"/>
            <a:ext cx="8949075" cy="485120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err="1"/>
              <a:t>Agentic</a:t>
            </a:r>
            <a:r>
              <a:rPr lang="en-IN" sz="1800" b="1" dirty="0"/>
              <a:t> AI, RAG, and personalization</a:t>
            </a:r>
            <a:r>
              <a:rPr lang="en-IN" sz="1800" dirty="0"/>
              <a:t> into a single intelligent system.</a:t>
            </a:r>
          </a:p>
          <a:p>
            <a:endParaRPr lang="en-IN" sz="1800" dirty="0"/>
          </a:p>
          <a:p>
            <a:r>
              <a:rPr lang="en-IN" sz="1800" b="1" dirty="0"/>
              <a:t>Multi-Agent Intelligence</a:t>
            </a:r>
            <a:r>
              <a:rPr lang="en-IN" sz="1800" dirty="0"/>
              <a:t> – Instead of a single </a:t>
            </a:r>
            <a:r>
              <a:rPr lang="en-IN" sz="1800" dirty="0" err="1"/>
              <a:t>chatbot</a:t>
            </a:r>
            <a:r>
              <a:rPr lang="en-IN" sz="1800" dirty="0"/>
              <a: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dirty="0">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p:cNvSpPr txBox="1"/>
          <p:nvPr/>
        </p:nvSpPr>
        <p:spPr>
          <a:xfrm>
            <a:off x="1218724" y="1344175"/>
            <a:ext cx="8219090" cy="523220"/>
          </a:xfrm>
          <a:prstGeom prst="rect">
            <a:avLst/>
          </a:prstGeom>
          <a:noFill/>
        </p:spPr>
        <p:txBody>
          <a:bodyPr wrap="square" rtlCol="0">
            <a:spAutoFit/>
          </a:bodyPr>
          <a:lstStyle/>
          <a:p>
            <a:r>
              <a:rPr lang="en-US" sz="2800" dirty="0"/>
              <a:t>https://github.com/d61227767-sys/IBM_Bob.git</a:t>
            </a: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673138" y="2571899"/>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p:cNvSpPr txBox="1"/>
          <p:nvPr/>
        </p:nvSpPr>
        <p:spPr>
          <a:xfrm>
            <a:off x="1218724" y="1700722"/>
            <a:ext cx="9438289" cy="3077766"/>
          </a:xfrm>
          <a:prstGeom prst="rect">
            <a:avLst/>
          </a:prstGeom>
          <a:noFill/>
        </p:spPr>
        <p:txBody>
          <a:bodyPr wrap="square" rtlCol="0">
            <a:spAutoFit/>
          </a:bodyPr>
          <a:lstStyle/>
          <a:p>
            <a:pPr marL="342900" indent="-342900">
              <a:buFont typeface="Arial" pitchFamily="34" charset="0"/>
              <a:buChar char="•"/>
            </a:pPr>
            <a:r>
              <a:rPr lang="en-US" sz="2000" b="1" dirty="0"/>
              <a:t>Cross-Platform Enterprise Integration:</a:t>
            </a:r>
            <a:r>
              <a:rPr lang="en-US" sz="2000" dirty="0"/>
              <a:t> Expand the research agent's capabilities to embed directly into enterprise workflow suites (such as CRMs, ERPs, and cloud storage repositories), allowing it to autonomously pull proprietary internal data alongside open web findings. </a:t>
            </a:r>
            <a:endParaRPr lang="en-US" sz="2000" dirty="0" smtClean="0"/>
          </a:p>
          <a:p>
            <a:endParaRPr lang="en-US" sz="2000" dirty="0"/>
          </a:p>
          <a:p>
            <a:pPr marL="342900" indent="-342900">
              <a:buFont typeface="Arial" pitchFamily="34" charset="0"/>
              <a:buChar char="•"/>
            </a:pPr>
            <a:r>
              <a:rPr lang="en-US" sz="2000" b="1" dirty="0"/>
              <a:t>Proactive Self-Correction and Learning:</a:t>
            </a:r>
            <a:r>
              <a:rPr lang="en-US" sz="2000" dirty="0"/>
              <a:t> Advance the architecture from reactive query-and-response to continuous background monitoring, enabling the agent to autonomously detect industry shifts, update historical knowledge bases, and alert users to new developments without requiring explicit prompts.</a:t>
            </a:r>
          </a:p>
          <a:p>
            <a:endParaRPr lang="en-US" dirty="0"/>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xmlns=""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smtClean="0"/>
              <a:t>(Getting </a:t>
            </a:r>
            <a:r>
              <a:rPr lang="en-US" sz="2400" b="1" dirty="0"/>
              <a:t>Started with Artificial Intelligence)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700" y="1439589"/>
            <a:ext cx="6324600" cy="481965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xmlns=""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smtClean="0"/>
              <a:t>IBM </a:t>
            </a:r>
            <a:r>
              <a:rPr lang="en-US" sz="2000" b="1" dirty="0"/>
              <a:t>BOB Certificate</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1301676"/>
            <a:ext cx="7086600" cy="4937198"/>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887</Words>
  <Application>Microsoft Office PowerPoint</Application>
  <PresentationFormat>Custom</PresentationFormat>
  <Paragraphs>125</Paragraphs>
  <Slides>19</Slides>
  <Notes>16</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8</cp:revision>
  <dcterms:created xsi:type="dcterms:W3CDTF">2025-07-08T05:06:56Z</dcterms:created>
  <dcterms:modified xsi:type="dcterms:W3CDTF">2026-09-05T10:14:26Z</dcterms:modified>
</cp:coreProperties>
</file>