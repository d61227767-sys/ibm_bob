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1"/>
  </p:notesMasterIdLst>
  <p:sldIdLst>
    <p:sldId id="290" r:id="rId2"/>
    <p:sldId id="291" r:id="rId3"/>
    <p:sldId id="292" r:id="rId4"/>
    <p:sldId id="293" r:id="rId5"/>
    <p:sldId id="294" r:id="rId6"/>
    <p:sldId id="295" r:id="rId7"/>
    <p:sldId id="296" r:id="rId8"/>
    <p:sldId id="298" r:id="rId9"/>
    <p:sldId id="299" r:id="rId10"/>
    <p:sldId id="300" r:id="rId11"/>
    <p:sldId id="301" r:id="rId12"/>
    <p:sldId id="302" r:id="rId13"/>
    <p:sldId id="303" r:id="rId14"/>
    <p:sldId id="304" r:id="rId15"/>
    <p:sldId id="305" r:id="rId16"/>
    <p:sldId id="306" r:id="rId17"/>
    <p:sldId id="307" r:id="rId18"/>
    <p:sldId id="308" r:id="rId19"/>
    <p:sldId id="309"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91" d="100"/>
          <a:sy n="91" d="100"/>
        </p:scale>
        <p:origin x="-102" y="4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 /><Relationship Id="rId13" Type="http://schemas.openxmlformats.org/officeDocument/2006/relationships/slide" Target="slides/slide12.xml" /><Relationship Id="rId18" Type="http://schemas.openxmlformats.org/officeDocument/2006/relationships/slide" Target="slides/slide17.xml" /><Relationship Id="rId3" Type="http://schemas.openxmlformats.org/officeDocument/2006/relationships/slide" Target="slides/slide2.xml" /><Relationship Id="rId21" Type="http://schemas.openxmlformats.org/officeDocument/2006/relationships/notesMaster" Target="notesMasters/notesMaster1.xml" /><Relationship Id="rId7" Type="http://schemas.openxmlformats.org/officeDocument/2006/relationships/slide" Target="slides/slide6.xml" /><Relationship Id="rId12" Type="http://schemas.openxmlformats.org/officeDocument/2006/relationships/slide" Target="slides/slide11.xml" /><Relationship Id="rId17" Type="http://schemas.openxmlformats.org/officeDocument/2006/relationships/slide" Target="slides/slide16.xml" /><Relationship Id="rId2" Type="http://schemas.openxmlformats.org/officeDocument/2006/relationships/slide" Target="slides/slide1.xml" /><Relationship Id="rId16" Type="http://schemas.openxmlformats.org/officeDocument/2006/relationships/slide" Target="slides/slide15.xml" /><Relationship Id="rId20" Type="http://schemas.openxmlformats.org/officeDocument/2006/relationships/slide" Target="slides/slide19.xml" /><Relationship Id="rId29" Type="http://schemas.openxmlformats.org/officeDocument/2006/relationships/viewProps" Target="viewProps.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5" Type="http://schemas.openxmlformats.org/officeDocument/2006/relationships/slide" Target="slides/slide4.xml" /><Relationship Id="rId15" Type="http://schemas.openxmlformats.org/officeDocument/2006/relationships/slide" Target="slides/slide14.xml" /><Relationship Id="rId28" Type="http://schemas.openxmlformats.org/officeDocument/2006/relationships/presProps" Target="presProps.xml" /><Relationship Id="rId10" Type="http://schemas.openxmlformats.org/officeDocument/2006/relationships/slide" Target="slides/slide9.xml" /><Relationship Id="rId19" Type="http://schemas.openxmlformats.org/officeDocument/2006/relationships/slide" Target="slides/slide18.xml" /><Relationship Id="rId31" Type="http://schemas.openxmlformats.org/officeDocument/2006/relationships/tableStyles" Target="tableStyles.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slide" Target="slides/slide13.xml" /><Relationship Id="rId27" Type="http://customschemas.google.com/relationships/presentationmetadata" Target="metadata"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652565507"/>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theme" Target="../theme/theme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standalone="yes"?>
<Relationships xmlns="http://schemas.openxmlformats.org/package/2006/relationships"><Relationship Id="rId3" Type="http://schemas.openxmlformats.org/officeDocument/2006/relationships/image" Target="../media/image1.jpeg" /><Relationship Id="rId2" Type="http://schemas.openxmlformats.org/officeDocument/2006/relationships/notesSlide" Target="../notesSlides/notesSlide1.xml"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 /><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Relationship Id="rId3" Type="http://schemas.openxmlformats.org/officeDocument/2006/relationships/image" Target="../media/image2.jpeg" /><Relationship Id="rId2" Type="http://schemas.openxmlformats.org/officeDocument/2006/relationships/notesSlide" Target="../notesSlides/notesSlide5.xml" /><Relationship Id="rId1" Type="http://schemas.openxmlformats.org/officeDocument/2006/relationships/slideLayout" Target="../slideLayouts/slideLayout1.xml" /></Relationships>
</file>

<file path=ppt/slides/_rels/slide7.xml.rels><?xml version="1.0" encoding="UTF-8" standalone="yes"?>
<Relationships xmlns="http://schemas.openxmlformats.org/package/2006/relationships"><Relationship Id="rId3" Type="http://schemas.openxmlformats.org/officeDocument/2006/relationships/image" Target="../media/image3.jpeg" /><Relationship Id="rId2" Type="http://schemas.openxmlformats.org/officeDocument/2006/relationships/notesSlide" Target="../notesSlides/notesSlide6.xml" /><Relationship Id="rId1" Type="http://schemas.openxmlformats.org/officeDocument/2006/relationships/slideLayout" Target="../slideLayouts/slideLayout1.xml" /></Relationships>
</file>

<file path=ppt/slides/_rels/slide8.xml.rels><?xml version="1.0" encoding="UTF-8" standalone="yes"?>
<Relationships xmlns="http://schemas.openxmlformats.org/package/2006/relationships"><Relationship Id="rId3" Type="http://schemas.openxmlformats.org/officeDocument/2006/relationships/image" Target="../media/image4.jpeg" /><Relationship Id="rId2" Type="http://schemas.openxmlformats.org/officeDocument/2006/relationships/notesSlide" Target="../notesSlides/notesSlide7.xml" /><Relationship Id="rId1" Type="http://schemas.openxmlformats.org/officeDocument/2006/relationships/slideLayout" Target="../slideLayouts/slideLayout1.xml" /></Relationships>
</file>

<file path=ppt/slides/_rels/slide9.xml.rels><?xml version="1.0" encoding="UTF-8" standalone="yes"?>
<Relationships xmlns="http://schemas.openxmlformats.org/package/2006/relationships"><Relationship Id="rId3" Type="http://schemas.openxmlformats.org/officeDocument/2006/relationships/image" Target="../media/image5.png" /><Relationship Id="rId2" Type="http://schemas.openxmlformats.org/officeDocument/2006/relationships/notesSlide" Target="../notesSlides/notesSlide8.xml"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Relationship Id="rId3" Type="http://schemas.openxmlformats.org/officeDocument/2006/relationships/image" Target="../media/image6.jpeg" /><Relationship Id="rId2" Type="http://schemas.openxmlformats.org/officeDocument/2006/relationships/notesSlide" Target="../notesSlides/notesSlide9.xml"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Relationship Id="rId3" Type="http://schemas.openxmlformats.org/officeDocument/2006/relationships/image" Target="../media/image7.jpeg" /><Relationship Id="rId2" Type="http://schemas.openxmlformats.org/officeDocument/2006/relationships/notesSlide" Target="../notesSlides/notesSlide10.xml"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Relationship Id="rId3" Type="http://schemas.openxmlformats.org/officeDocument/2006/relationships/image" Target="../media/image8.jpeg" /><Relationship Id="rId2" Type="http://schemas.openxmlformats.org/officeDocument/2006/relationships/notesSlide" Target="../notesSlides/notesSlide11.xml"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Relationship Id="rId3" Type="http://schemas.openxmlformats.org/officeDocument/2006/relationships/image" Target="../media/image9.jpeg" /><Relationship Id="rId2" Type="http://schemas.openxmlformats.org/officeDocument/2006/relationships/notesSlide" Target="../notesSlides/notesSlide12.xml" /><Relationship Id="rId1" Type="http://schemas.openxmlformats.org/officeDocument/2006/relationships/slideLayout" Target="../slideLayouts/slideLayout1.xml" /></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 /><Relationship Id="rId1" Type="http://schemas.openxmlformats.org/officeDocument/2006/relationships/slideLayout" Target="../slideLayouts/slideLayout1.xml" /></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 /><Relationship Id="rId1" Type="http://schemas.openxmlformats.org/officeDocument/2006/relationships/slideLayout" Target="../slideLayouts/slideLayout1.xml" /></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 /><Relationship Id="rId1" Type="http://schemas.openxmlformats.org/officeDocument/2006/relationships/slideLayout" Target="../slideLayouts/slideLayout1.xml" /></Relationships>
</file>

<file path=ppt/slides/_rels/slide17.xml.rels><?xml version="1.0" encoding="UTF-8" standalone="yes"?>
<Relationships xmlns="http://schemas.openxmlformats.org/package/2006/relationships"><Relationship Id="rId2" Type="http://schemas.openxmlformats.org/officeDocument/2006/relationships/image" Target="../media/image10.jpeg" /><Relationship Id="rId1" Type="http://schemas.openxmlformats.org/officeDocument/2006/relationships/slideLayout" Target="../slideLayouts/slideLayout2.xml" /></Relationships>
</file>

<file path=ppt/slides/_rels/slide18.xml.rels><?xml version="1.0" encoding="UTF-8" standalone="yes"?>
<Relationships xmlns="http://schemas.openxmlformats.org/package/2006/relationships"><Relationship Id="rId2" Type="http://schemas.openxmlformats.org/officeDocument/2006/relationships/image" Target="../media/image11.jpeg" /><Relationship Id="rId1" Type="http://schemas.openxmlformats.org/officeDocument/2006/relationships/slideLayout" Target="../slideLayouts/slideLayout2.xml" /></Relationships>
</file>

<file path=ppt/slides/_rels/slide19.xml.rels><?xml version="1.0" encoding="UTF-8" standalone="yes"?>
<Relationships xmlns="http://schemas.openxmlformats.org/package/2006/relationships"><Relationship Id="rId3" Type="http://schemas.openxmlformats.org/officeDocument/2006/relationships/image" Target="../media/image12.png" /><Relationship Id="rId2" Type="http://schemas.openxmlformats.org/officeDocument/2006/relationships/notesSlide" Target="../notesSlides/notesSlide16.xml"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123074704"/>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err="1"/>
                        <a:t>Arpit</a:t>
                      </a:r>
                      <a:r>
                        <a:rPr lang="en-US" dirty="0"/>
                        <a:t> Kumar Sharma</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D61227767@gmail.com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9455970947</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Education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Research Agent</a:t>
            </a:r>
            <a:endParaRPr lang="en-IN" sz="2400" b="1" dirty="0">
              <a:highlight>
                <a:srgbClr val="FFFF00"/>
              </a:highlight>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28781" y="3629626"/>
            <a:ext cx="900571" cy="1140189"/>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902494"/>
            <a:ext cx="10607040" cy="6124754"/>
          </a:xfrm>
          <a:prstGeom prst="rect">
            <a:avLst/>
          </a:prstGeom>
          <a:noFill/>
        </p:spPr>
        <p:txBody>
          <a:bodyPr wrap="square" rtlCol="0">
            <a:spAutoFit/>
          </a:bodyPr>
          <a:lstStyle/>
          <a:p>
            <a:pPr fontAlgn="base"/>
            <a:r>
              <a:rPr lang="en-US" b="1" dirty="0"/>
              <a:t>Problem Statement :  Research Agent </a:t>
            </a:r>
          </a:p>
          <a:p>
            <a:pPr fontAlgn="base"/>
            <a:endParaRPr lang="en-US" b="1" dirty="0"/>
          </a:p>
          <a:p>
            <a:pPr fontAlgn="base"/>
            <a:r>
              <a:rPr lang="en-US" b="1" dirty="0"/>
              <a:t>The Challenge</a:t>
            </a:r>
            <a:r>
              <a:rPr lang="en-US" dirty="0"/>
              <a:t> </a:t>
            </a:r>
          </a:p>
          <a:p>
            <a:pPr fontAlgn="base"/>
            <a:r>
              <a:rPr lang="en-US" dirty="0"/>
              <a:t> A Research Agent is an AI system designed to assist with academic and scientific research tasks. It can autonomously search for literature, summarize papers, and organize references. Using natural language processing, it understands research questions and retrieves relevant information.</a:t>
            </a:r>
          </a:p>
          <a:p>
            <a:pPr fontAlgn="base"/>
            <a:endParaRPr lang="en-US" dirty="0"/>
          </a:p>
          <a:p>
            <a:pPr fontAlgn="base"/>
            <a:r>
              <a:rPr lang="en-US" dirty="0"/>
              <a:t> The agent can generate reports, suggest hypotheses, and even draft sections of research papers. It saves time by automating repetitive tasks like citation management and data extraction. Research Agents enhance efficiency, accuracy, and innovation in both academic and industrial R&amp;D. </a:t>
            </a:r>
          </a:p>
          <a:p>
            <a:pPr fontAlgn="base"/>
            <a:endParaRPr lang="en-US" dirty="0"/>
          </a:p>
          <a:p>
            <a:pPr fontAlgn="base"/>
            <a:r>
              <a:rPr lang="en-US" b="1" dirty="0"/>
              <a:t>The Objective</a:t>
            </a:r>
            <a:r>
              <a:rPr lang="en-US" dirty="0"/>
              <a:t> </a:t>
            </a:r>
          </a:p>
          <a:p>
            <a:pPr marL="285750" indent="-285750">
              <a:buFont typeface="Arial" pitchFamily="34" charset="0"/>
              <a:buChar char="•"/>
            </a:pPr>
            <a:r>
              <a:rPr lang="en-US" b="1" dirty="0"/>
              <a:t>Autonomous Information Retrieval:</a:t>
            </a:r>
            <a:r>
              <a:rPr lang="en-US" dirty="0"/>
              <a:t> Efficiently search across diverse digital repositories, databases, and web sources to gather relevant, high-quality data based on user-defined parameters.</a:t>
            </a:r>
          </a:p>
          <a:p>
            <a:pPr marL="285750" indent="-285750">
              <a:buFont typeface="Arial" pitchFamily="34" charset="0"/>
              <a:buChar char="•"/>
            </a:pPr>
            <a:endParaRPr lang="en-US" dirty="0"/>
          </a:p>
          <a:p>
            <a:pPr marL="285750" indent="-285750">
              <a:buFont typeface="Arial" pitchFamily="34" charset="0"/>
              <a:buChar char="•"/>
            </a:pPr>
            <a:r>
              <a:rPr lang="en-US" b="1" dirty="0"/>
              <a:t>Source Evaluation &amp; Verification:</a:t>
            </a:r>
            <a:r>
              <a:rPr lang="en-US" dirty="0"/>
              <a:t> Critically assess the credibility, authority, and </a:t>
            </a:r>
            <a:r>
              <a:rPr lang="en-US" dirty="0" err="1"/>
              <a:t>recency</a:t>
            </a:r>
            <a:r>
              <a:rPr lang="en-US" dirty="0"/>
              <a:t> of retrieved sources to filter out misinformation and ensure data integrity.</a:t>
            </a:r>
          </a:p>
          <a:p>
            <a:pPr marL="285750" indent="-285750">
              <a:buFont typeface="Arial" pitchFamily="34" charset="0"/>
              <a:buChar char="•"/>
            </a:pPr>
            <a:endParaRPr lang="en-US" dirty="0"/>
          </a:p>
          <a:p>
            <a:pPr marL="285750" indent="-285750">
              <a:buFont typeface="Arial" pitchFamily="34" charset="0"/>
              <a:buChar char="•"/>
            </a:pPr>
            <a:r>
              <a:rPr lang="en-US" b="1" dirty="0"/>
              <a:t>Contextual Synthesis &amp; Summarization:</a:t>
            </a:r>
            <a:r>
              <a:rPr lang="en-US" dirty="0"/>
              <a:t> Distill large volumes of raw information into structured, concise, and coherent summaries tailored to the user's specific research goals.</a:t>
            </a:r>
          </a:p>
          <a:p>
            <a:pPr marL="285750" indent="-285750">
              <a:buFont typeface="Arial" pitchFamily="34" charset="0"/>
              <a:buChar char="•"/>
            </a:pPr>
            <a:endParaRPr lang="en-US" dirty="0"/>
          </a:p>
          <a:p>
            <a:pPr marL="285750" indent="-285750">
              <a:buFont typeface="Arial" pitchFamily="34" charset="0"/>
              <a:buChar char="•"/>
            </a:pPr>
            <a:r>
              <a:rPr lang="en-US" b="1" dirty="0"/>
              <a:t>Iterative Refinement:</a:t>
            </a:r>
            <a:r>
              <a:rPr lang="en-US" dirty="0"/>
              <a:t> Adapt search strategies dynamically by analyzing initial findings, identifying knowledge gaps, and executing follow-up queries for deeper exploration.</a:t>
            </a:r>
          </a:p>
          <a:p>
            <a:pPr marL="285750" indent="-285750">
              <a:buFont typeface="Arial" pitchFamily="34" charset="0"/>
              <a:buChar char="•"/>
            </a:pPr>
            <a:endParaRPr lang="en-US" dirty="0"/>
          </a:p>
          <a:p>
            <a:pPr marL="285750" indent="-285750">
              <a:buFont typeface="Arial" pitchFamily="34" charset="0"/>
              <a:buChar char="•"/>
            </a:pPr>
            <a:r>
              <a:rPr lang="en-US" b="1" dirty="0"/>
              <a:t>Structured Output Generation:</a:t>
            </a:r>
            <a:r>
              <a:rPr lang="en-US" dirty="0"/>
              <a:t> Deliver finalized research outputs in a clear, well-organized format—complete with proper citations and actionable insights—ready for immediate application.</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440829"/>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693866"/>
          </a:xfrm>
          <a:prstGeom prst="rect">
            <a:avLst/>
          </a:prstGeom>
          <a:noFill/>
        </p:spPr>
        <p:txBody>
          <a:bodyPr wrap="square" rtlCol="0">
            <a:spAutoFit/>
          </a:bodyPr>
          <a:lstStyle/>
          <a:p>
            <a:pPr fontAlgn="base"/>
            <a:endParaRPr lang="en-US" b="1" dirty="0"/>
          </a:p>
          <a:p>
            <a:r>
              <a:rPr lang="en-US" b="1" dirty="0"/>
              <a:t>Proposed Solution: AI-Powered Research Agent</a:t>
            </a:r>
          </a:p>
          <a:p>
            <a:endParaRPr lang="en-US" b="1" dirty="0"/>
          </a:p>
          <a:p>
            <a:r>
              <a:rPr lang="en-US" dirty="0"/>
              <a:t>The proposed solution is a </a:t>
            </a:r>
            <a:r>
              <a:rPr lang="en-US" b="1" dirty="0"/>
              <a:t>multi-agent AI-powered Research Agent</a:t>
            </a:r>
            <a:r>
              <a:rPr lang="en-US" dirty="0"/>
              <a:t> built using </a:t>
            </a:r>
            <a:r>
              <a:rPr lang="en-US" b="1" dirty="0"/>
              <a:t>IBM Bob, IBM watsonx.ai, and Granite Models</a:t>
            </a:r>
            <a:r>
              <a:rPr lang="en-US" dirty="0"/>
              <a:t> to provide personalized, real-time research guidance. The system addresses challenges in literature, summarize papers, and organize references through an intelligent, modular architecture.</a:t>
            </a:r>
          </a:p>
          <a:p>
            <a:endParaRPr lang="en-US" dirty="0"/>
          </a:p>
          <a:p>
            <a:r>
              <a:rPr lang="en-US" dirty="0"/>
              <a:t>At its core, the solution uses a </a:t>
            </a:r>
            <a:r>
              <a:rPr lang="en-US" b="1" dirty="0"/>
              <a:t>Retrieval-Augmented Generation (RAG)</a:t>
            </a:r>
            <a:r>
              <a:rPr lang="en-US" dirty="0"/>
              <a:t> pipeline to fetch accurate research data from trusted </a:t>
            </a:r>
            <a:r>
              <a:rPr lang="en-US" dirty="0" err="1"/>
              <a:t>sources.It</a:t>
            </a:r>
            <a:r>
              <a:rPr lang="en-US" dirty="0"/>
              <a:t> uses </a:t>
            </a:r>
            <a:r>
              <a:rPr lang="en-US" b="1" dirty="0"/>
              <a:t>Granite Model </a:t>
            </a:r>
            <a:r>
              <a:rPr lang="en-US" dirty="0"/>
              <a:t>for </a:t>
            </a:r>
            <a:r>
              <a:rPr lang="en-US" dirty="0" err="1"/>
              <a:t>procesing</a:t>
            </a:r>
            <a:r>
              <a:rPr lang="en-US" dirty="0"/>
              <a:t> information.</a:t>
            </a:r>
          </a:p>
          <a:p>
            <a:endParaRPr lang="en-US" dirty="0"/>
          </a:p>
          <a:p>
            <a:pPr marL="285750" indent="-285750">
              <a:buFont typeface="Arial" pitchFamily="34" charset="0"/>
              <a:buChar char="•"/>
            </a:pPr>
            <a:r>
              <a:rPr lang="en-US" b="1" dirty="0"/>
              <a:t>Modular Multi-Agent Architecture:</a:t>
            </a:r>
            <a:r>
              <a:rPr lang="en-US" dirty="0"/>
              <a:t> Implement a specialized task-delegation framework where distinct sub-agents handle query planning, parallel web searching, content scraping, and critical evaluation independently.</a:t>
            </a:r>
          </a:p>
          <a:p>
            <a:endParaRPr lang="en-US" dirty="0"/>
          </a:p>
          <a:p>
            <a:pPr marL="285750" indent="-285750">
              <a:buFont typeface="Arial" pitchFamily="34" charset="0"/>
              <a:buChar char="•"/>
            </a:pPr>
            <a:r>
              <a:rPr lang="en-US" b="1" dirty="0"/>
              <a:t>Hybrid Retrieval Engine:</a:t>
            </a:r>
            <a:r>
              <a:rPr lang="en-US" dirty="0"/>
              <a:t> Combine dense vector </a:t>
            </a:r>
            <a:r>
              <a:rPr lang="en-US" dirty="0" err="1"/>
              <a:t>embeddings</a:t>
            </a:r>
            <a:r>
              <a:rPr lang="en-US" dirty="0"/>
              <a:t> for semantic similarity with sparse keyword indices (BM25) to ensure comprehensive data coverage across both structured and unstructured repositories.</a:t>
            </a:r>
          </a:p>
          <a:p>
            <a:endParaRPr lang="en-US" dirty="0"/>
          </a:p>
          <a:p>
            <a:pPr marL="285750" indent="-285750">
              <a:buFont typeface="Arial" pitchFamily="34" charset="0"/>
              <a:buChar char="•"/>
            </a:pPr>
            <a:r>
              <a:rPr lang="en-US" b="1" dirty="0"/>
              <a:t>Automated Fact-Checking Layer:</a:t>
            </a:r>
            <a:r>
              <a:rPr lang="en-US" dirty="0"/>
              <a:t> Incorporate an evaluation pipeline that cross-references extracted claims against trusted knowledge bases and multi-source consensus to filter out hallucinations and biases.</a:t>
            </a:r>
          </a:p>
          <a:p>
            <a:endParaRPr lang="en-US" dirty="0"/>
          </a:p>
          <a:p>
            <a:pPr marL="285750" indent="-285750">
              <a:buFont typeface="Arial" pitchFamily="34" charset="0"/>
              <a:buChar char="•"/>
            </a:pPr>
            <a:r>
              <a:rPr lang="en-US" b="1" dirty="0"/>
              <a:t>Persistent Context &amp; Memory:</a:t>
            </a:r>
            <a:r>
              <a:rPr lang="en-US" dirty="0"/>
              <a:t> Utilize short-term working memory alongside a vector-based long-term store to maintain historical context, track ongoing research threads, and avoid redundant queries.</a:t>
            </a:r>
          </a:p>
          <a:p>
            <a:endParaRPr lang="en-US" dirty="0"/>
          </a:p>
          <a:p>
            <a:pPr marL="285750" indent="-285750">
              <a:buFont typeface="Arial" pitchFamily="34" charset="0"/>
              <a:buChar char="•"/>
            </a:pPr>
            <a:r>
              <a:rPr lang="en-US" b="1" dirty="0"/>
              <a:t>Transparent Source Attribution:</a:t>
            </a:r>
            <a:r>
              <a:rPr lang="en-US" dirty="0"/>
              <a:t> Embed end-to-end citation tracking to map every synthesized insight directly back to its original source URL or document for seamless auditability.</a:t>
            </a:r>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pPr marL="285750" indent="-285750">
              <a:buFont typeface="Arial" panose="020B0604020202020204" pitchFamily="34" charset="0"/>
              <a:buChar char="•"/>
            </a:pPr>
            <a:r>
              <a:rPr lang="en-US" sz="1800" b="1" dirty="0"/>
              <a:t>IBM Bob platform </a:t>
            </a:r>
            <a:r>
              <a:rPr lang="en-US" sz="1800" dirty="0"/>
              <a:t>-For designing and orchestrating multi-agent workflows visually.</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for </a:t>
            </a:r>
            <a:r>
              <a:rPr lang="en-US" sz="1800" dirty="0" err="1"/>
              <a:t>eg</a:t>
            </a:r>
            <a:r>
              <a:rPr lang="en-US" sz="1800" dirty="0"/>
              <a:t> – ibm-granite-3-2-8b –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Nutrition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a:t>
            </a:r>
            <a:r>
              <a:rPr lang="en-US" sz="1800" dirty="0"/>
              <a:t>RAG to </a:t>
            </a:r>
            <a:r>
              <a:rPr lang="en-US" sz="1800" b="1" dirty="0"/>
              <a:t>fetch real data first, then generate intelligent answers</a:t>
            </a:r>
            <a:r>
              <a:rPr lang="en-US" sz="1800" dirty="0"/>
              <a:t>, making the Nutrition Agent more trustworthy and effective.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IN" sz="1800" b="1" dirty="0"/>
              <a:t>Vector Database </a:t>
            </a:r>
            <a:r>
              <a:rPr lang="en-IN" sz="1800" dirty="0"/>
              <a:t>(FAISS/Chroma) – For RAG-based nutritional data retrieval.</a:t>
            </a: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76362" y="1095375"/>
            <a:ext cx="9439275" cy="4667250"/>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56692" y="1008993"/>
            <a:ext cx="8448549" cy="5022193"/>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6137" y="771747"/>
            <a:ext cx="10058400" cy="5233511"/>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46770"/>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475488" y="671691"/>
            <a:ext cx="7406640" cy="6186309"/>
          </a:xfrm>
          <a:prstGeom prst="rect">
            <a:avLst/>
          </a:prstGeom>
          <a:noFill/>
        </p:spPr>
        <p:txBody>
          <a:bodyPr wrap="square" rtlCol="0">
            <a:spAutoFit/>
          </a:bodyPr>
          <a:lstStyle/>
          <a:p>
            <a:r>
              <a:rPr lang="en-US" sz="1800" b="1" dirty="0"/>
              <a:t>Role of </a:t>
            </a:r>
            <a:r>
              <a:rPr lang="en-US" sz="1800" b="1" dirty="0" err="1"/>
              <a:t>Agentic</a:t>
            </a:r>
            <a:r>
              <a:rPr lang="en-US" sz="1800" b="1" dirty="0"/>
              <a:t> AI in Nutrition Agent</a:t>
            </a:r>
          </a:p>
          <a:p>
            <a:r>
              <a:rPr lang="en-US" b="1" dirty="0"/>
              <a:t>
Autonomous Information Retrieval &amp; Synthesis
</a:t>
            </a:r>
            <a:r>
              <a:rPr lang="en-US" dirty="0"/>
              <a:t>Instead of relying on static training data or simple search queries, an </a:t>
            </a:r>
            <a:r>
              <a:rPr lang="en-US" dirty="0" err="1"/>
              <a:t>Agentic</a:t>
            </a:r>
            <a:r>
              <a:rPr lang="en-US" dirty="0"/>
              <a:t> AI designs multi-step search strategies. It queries academic databases (like </a:t>
            </a:r>
            <a:r>
              <a:rPr lang="en-US" dirty="0" err="1"/>
              <a:t>arXiv</a:t>
            </a:r>
            <a:r>
              <a:rPr lang="en-US" dirty="0"/>
              <a:t>, PubMed, or Google Scholar), follows citation networks, cross-references sources, and synthesizes large volumes of literature to identify research gaps.</a:t>
            </a:r>
            <a:r>
              <a:rPr lang="en-US" b="1" dirty="0"/>
              <a:t>
Automated Hypothesis Generation &amp; Experimental Design
</a:t>
            </a:r>
            <a:r>
              <a:rPr lang="en-US" dirty="0"/>
              <a:t>By analyzing existing datasets and literature, </a:t>
            </a:r>
            <a:r>
              <a:rPr lang="en-US" dirty="0" err="1"/>
              <a:t>agentic</a:t>
            </a:r>
            <a:r>
              <a:rPr lang="en-US" dirty="0"/>
              <a:t> systems formulate novel, testable hypotheses. They can draft structured experimental protocols, outline computational workflows, and define parameters and metrics before execution begins.</a:t>
            </a:r>
            <a:r>
              <a:rPr lang="en-US" b="1" dirty="0"/>
              <a:t>
Code Execution &amp; Data Analysis
</a:t>
            </a:r>
            <a:r>
              <a:rPr lang="en-US" dirty="0" err="1"/>
              <a:t>Agentic</a:t>
            </a:r>
            <a:r>
              <a:rPr lang="en-US" dirty="0"/>
              <a:t> research assistants write, execute, and debug custom code (Python, R) to process raw data, run statistical models, generate visualizations, and analyze results. If an execution fails or returns an error, the agent self-corrects its code autonomously.</a:t>
            </a:r>
            <a:r>
              <a:rPr lang="en-US" b="1" dirty="0"/>
              <a:t>
Iterative Peer Review &amp; Self-Correction
</a:t>
            </a:r>
            <a:r>
              <a:rPr lang="en-US" dirty="0"/>
              <a:t>Unlike basic language models, </a:t>
            </a:r>
            <a:r>
              <a:rPr lang="en-US" dirty="0" err="1"/>
              <a:t>agentic</a:t>
            </a:r>
            <a:r>
              <a:rPr lang="en-US" dirty="0"/>
              <a:t> workflows incorporate continuous feedback loops. The agent reviews its own drafts, verifies mathematical or logical consistency against source material, critiques methodology, and refines conclusions before human intervention.</a:t>
            </a:r>
            <a:r>
              <a:rPr lang="en-US" b="1" dirty="0"/>
              <a:t>
End-to-End Task Management &amp; Orchestration
</a:t>
            </a:r>
            <a:r>
              <a:rPr lang="en-US" dirty="0"/>
              <a:t>The agent decomposes broad, open-ended research goals into structured sequences of sub-tasks. It manages the entire lifecycle—from literature review and data collection to synthesis, formatting, and drafting peer-review-ready paper outlines—acting as an interactive co-researcher.</a:t>
            </a:r>
          </a:p>
        </p:txBody>
      </p:sp>
    </p:spTree>
    <p:extLst>
      <p:ext uri="{BB962C8B-B14F-4D97-AF65-F5344CB8AC3E}">
        <p14:creationId xmlns:p14="http://schemas.microsoft.com/office/powerpoint/2010/main" val="4000696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3342 token were used</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08083" y="1590273"/>
            <a:ext cx="9028387" cy="4840219"/>
          </a:xfrm>
          <a:prstGeom prst="rect">
            <a:avLst/>
          </a:prstGeom>
        </p:spPr>
      </p:pic>
    </p:spTree>
    <p:extLst>
      <p:ext uri="{BB962C8B-B14F-4D97-AF65-F5344CB8AC3E}">
        <p14:creationId xmlns:p14="http://schemas.microsoft.com/office/powerpoint/2010/main" val="8934170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8897" y="1033602"/>
            <a:ext cx="8687277" cy="4653228"/>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44718" y="1190977"/>
            <a:ext cx="9039954" cy="4810430"/>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9102" y="934614"/>
            <a:ext cx="8949075" cy="4851203"/>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rPr lang="en-IN" sz="1800" dirty="0"/>
              <a:t>The proposed Nutrition Agent stands out by combining </a:t>
            </a:r>
            <a:r>
              <a:rPr lang="en-IN" sz="1800" b="1" dirty="0" err="1"/>
              <a:t>Agentic</a:t>
            </a:r>
            <a:r>
              <a:rPr lang="en-IN" sz="1800" b="1" dirty="0"/>
              <a:t> AI, RAG, and personalization</a:t>
            </a:r>
            <a:r>
              <a:rPr lang="en-IN" sz="1800" dirty="0"/>
              <a:t> into a single intelligent system.</a:t>
            </a:r>
          </a:p>
          <a:p>
            <a:endParaRPr lang="en-IN" sz="1800" dirty="0"/>
          </a:p>
          <a:p>
            <a:r>
              <a:rPr lang="en-IN" sz="1800" b="1" dirty="0"/>
              <a:t>Multi-Agent Intelligence</a:t>
            </a:r>
            <a:r>
              <a:rPr lang="en-IN" sz="1800" dirty="0"/>
              <a:t> – Instead of a single </a:t>
            </a:r>
            <a:r>
              <a:rPr lang="en-IN" sz="1800" dirty="0" err="1"/>
              <a:t>chatbot</a:t>
            </a:r>
            <a:r>
              <a:rPr lang="en-IN" sz="1800" dirty="0"/>
              <a:t>, multiple specialized agents collaborate to deliver accurate and context-aware nutrition guidance. </a:t>
            </a:r>
          </a:p>
          <a:p>
            <a:r>
              <a:rPr lang="en-IN" sz="1800" b="1" dirty="0"/>
              <a:t>RAG-Based Accuracy</a:t>
            </a:r>
            <a:r>
              <a:rPr lang="en-IN" sz="1800" dirty="0"/>
              <a:t> – Integrates real-time data retrieval with AI generation, reducing misinformation and ensuring trustworthy recommendations. </a:t>
            </a:r>
          </a:p>
          <a:p>
            <a:r>
              <a:rPr lang="en-IN" sz="1800" b="1" dirty="0"/>
              <a:t>Hyper-Personalization</a:t>
            </a:r>
            <a:r>
              <a:rPr lang="en-IN" sz="1800" dirty="0"/>
              <a:t> – Tailors diet plans based on health conditions, cultural preferences, and fitness goals. </a:t>
            </a:r>
          </a:p>
          <a:p>
            <a:r>
              <a:rPr lang="en-IN" sz="1800" b="1" dirty="0"/>
              <a:t>Real-Time Feedback Loop</a:t>
            </a:r>
            <a:r>
              <a:rPr lang="en-IN" sz="1800" dirty="0"/>
              <a:t> – Continuously adapts recommendations based on daily food logs and user </a:t>
            </a:r>
            <a:r>
              <a:rPr lang="en-IN" sz="1800" dirty="0" err="1"/>
              <a:t>behavior</a:t>
            </a:r>
            <a:r>
              <a:rPr lang="en-IN" sz="1800" dirty="0"/>
              <a:t>. </a:t>
            </a:r>
          </a:p>
          <a:p>
            <a:r>
              <a:rPr lang="en-IN" sz="1800" b="1" dirty="0"/>
              <a:t>Multi-Modal Input</a:t>
            </a:r>
            <a:r>
              <a:rPr lang="en-IN" sz="1800" dirty="0"/>
              <a:t> – Supports text, voice, and image-based meal tracking for better usability. </a:t>
            </a:r>
          </a:p>
          <a:p>
            <a:r>
              <a:rPr lang="en-IN" sz="1800" b="1" dirty="0"/>
              <a:t>Preventive Healthcare Focus</a:t>
            </a:r>
            <a:r>
              <a:rPr lang="en-IN" sz="1800" dirty="0"/>
              <a:t> – Goes beyond diet planning to provide disease-specific nutrition advice. </a:t>
            </a:r>
          </a:p>
          <a:p>
            <a:r>
              <a:rPr lang="en-IN" sz="1800" b="1" dirty="0"/>
              <a:t>Scalable &amp; Enterprise-Ready</a:t>
            </a:r>
            <a:r>
              <a:rPr lang="en-IN" sz="1800" dirty="0"/>
              <a:t> – Built on </a:t>
            </a:r>
            <a:r>
              <a:rPr lang="en-IN" sz="1800" b="1" dirty="0"/>
              <a:t>IBM watsonx.ai</a:t>
            </a:r>
            <a:r>
              <a:rPr lang="en-IN" sz="1800" dirty="0"/>
              <a:t> with </a:t>
            </a:r>
            <a:r>
              <a:rPr lang="en-IN" sz="1800" b="1" dirty="0"/>
              <a:t>IBM Granite models</a:t>
            </a:r>
            <a:r>
              <a:rPr lang="en-IN" sz="1800" dirty="0"/>
              <a:t>, ensuring reliability and governance. </a:t>
            </a:r>
          </a:p>
          <a:p>
            <a:endParaRPr lang="en-IN" sz="1800" dirty="0"/>
          </a:p>
          <a:p>
            <a:r>
              <a:rPr lang="en-IN" sz="1800" dirty="0"/>
              <a:t>This makes the solution a </a:t>
            </a:r>
            <a:r>
              <a:rPr lang="en-IN" sz="1800" b="1" dirty="0"/>
              <a:t>smart, adaptive, and proactive digital nutritionist</a:t>
            </a:r>
            <a:r>
              <a:rPr lang="en-IN" sz="1800" dirty="0"/>
              <a:t>, not just a static diet recommendation tool.</a:t>
            </a:r>
            <a:endParaRPr lang="en-US" dirty="0"/>
          </a:p>
          <a:p>
            <a:endParaRPr lang="en-IN" dirty="0"/>
          </a:p>
        </p:txBody>
      </p:sp>
    </p:spTree>
    <p:extLst>
      <p:ext uri="{BB962C8B-B14F-4D97-AF65-F5344CB8AC3E}">
        <p14:creationId xmlns:p14="http://schemas.microsoft.com/office/powerpoint/2010/main" val="23252822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err="1">
                <a:sym typeface="Times New Roman"/>
              </a:rPr>
              <a:t>Git</a:t>
            </a:r>
            <a:r>
              <a:rPr lang="en-US" sz="2400" b="1" dirty="0">
                <a:sym typeface="Times New Roman"/>
              </a:rPr>
              <a: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p:cNvSpPr txBox="1"/>
          <p:nvPr/>
        </p:nvSpPr>
        <p:spPr>
          <a:xfrm>
            <a:off x="1218724" y="1344175"/>
            <a:ext cx="8219090" cy="523220"/>
          </a:xfrm>
          <a:prstGeom prst="rect">
            <a:avLst/>
          </a:prstGeom>
          <a:noFill/>
        </p:spPr>
        <p:txBody>
          <a:bodyPr wrap="square" rtlCol="0">
            <a:spAutoFit/>
          </a:bodyPr>
          <a:lstStyle/>
          <a:p>
            <a:r>
              <a:rPr lang="en-US" sz="2800" dirty="0"/>
              <a:t>https://github.com/d61227767-sys/IBM_Bob.git</a:t>
            </a:r>
          </a:p>
        </p:txBody>
      </p:sp>
    </p:spTree>
    <p:extLst>
      <p:ext uri="{BB962C8B-B14F-4D97-AF65-F5344CB8AC3E}">
        <p14:creationId xmlns:p14="http://schemas.microsoft.com/office/powerpoint/2010/main" val="4040412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673138" y="2571899"/>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p:cNvSpPr txBox="1"/>
          <p:nvPr/>
        </p:nvSpPr>
        <p:spPr>
          <a:xfrm>
            <a:off x="1218724" y="1700722"/>
            <a:ext cx="9438289" cy="3077766"/>
          </a:xfrm>
          <a:prstGeom prst="rect">
            <a:avLst/>
          </a:prstGeom>
          <a:noFill/>
        </p:spPr>
        <p:txBody>
          <a:bodyPr wrap="square" rtlCol="0">
            <a:spAutoFit/>
          </a:bodyPr>
          <a:lstStyle/>
          <a:p>
            <a:pPr marL="342900" indent="-342900">
              <a:buFont typeface="Arial" pitchFamily="34" charset="0"/>
              <a:buChar char="•"/>
            </a:pPr>
            <a:r>
              <a:rPr lang="en-US" sz="2000" b="1" dirty="0"/>
              <a:t>Cross-Platform Enterprise Integration:</a:t>
            </a:r>
            <a:r>
              <a:rPr lang="en-US" sz="2000" dirty="0"/>
              <a:t> Expand the research agent's capabilities to embed directly into enterprise workflow suites (such as CRMs, ERPs, and cloud storage repositories), allowing it to autonomously pull proprietary internal data alongside open web findings. </a:t>
            </a:r>
          </a:p>
          <a:p>
            <a:endParaRPr lang="en-US" sz="2000" dirty="0"/>
          </a:p>
          <a:p>
            <a:pPr marL="342900" indent="-342900">
              <a:buFont typeface="Arial" pitchFamily="34" charset="0"/>
              <a:buChar char="•"/>
            </a:pPr>
            <a:r>
              <a:rPr lang="en-US" sz="2000" b="1" dirty="0"/>
              <a:t>Proactive Self-Correction and Learning:</a:t>
            </a:r>
            <a:r>
              <a:rPr lang="en-US" sz="2000" dirty="0"/>
              <a:t> Advance the architecture from reactive query-and-response to continuous background monitoring, enabling the agent to autonomously detect industry shifts, update historical knowledge bases, and alert users to new developments without requiring explicit prompts.</a:t>
            </a:r>
          </a:p>
          <a:p>
            <a:endParaRPr lang="en-US" dirty="0"/>
          </a:p>
        </p:txBody>
      </p:sp>
    </p:spTree>
    <p:extLst>
      <p:ext uri="{BB962C8B-B14F-4D97-AF65-F5344CB8AC3E}">
        <p14:creationId xmlns:p14="http://schemas.microsoft.com/office/powerpoint/2010/main" val="7400284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(Getting Started with Artificial Intelligence)  </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33700" y="1439589"/>
            <a:ext cx="6324600" cy="4819650"/>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IBM BOB Certificate</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7000" y="1301676"/>
            <a:ext cx="7086600" cy="4937198"/>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TotalTime>
  <Words>887</Words>
  <Application>Microsoft Office PowerPoint</Application>
  <PresentationFormat>Widescreen</PresentationFormat>
  <Paragraphs>125</Paragraphs>
  <Slides>19</Slides>
  <Notes>16</Notes>
  <HiddenSlides>0</HiddenSlides>
  <MMClips>0</MMClips>
  <ScaleCrop>false</ScaleCrop>
  <HeadingPairs>
    <vt:vector size="4" baseType="variant">
      <vt:variant>
        <vt:lpstr>Theme</vt:lpstr>
      </vt:variant>
      <vt:variant>
        <vt:i4>1</vt:i4>
      </vt:variant>
      <vt:variant>
        <vt:lpstr>Slide Titles</vt:lpstr>
      </vt:variant>
      <vt:variant>
        <vt:i4>19</vt:i4>
      </vt:variant>
    </vt:vector>
  </HeadingPairs>
  <TitlesOfParts>
    <vt:vector size="20" baseType="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Arpit Kumar</cp:lastModifiedBy>
  <cp:revision>9</cp:revision>
  <dcterms:created xsi:type="dcterms:W3CDTF">2025-07-08T05:06:56Z</dcterms:created>
  <dcterms:modified xsi:type="dcterms:W3CDTF">2026-09-05T13:45:24Z</dcterms:modified>
</cp:coreProperties>
</file>